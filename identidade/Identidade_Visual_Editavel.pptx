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8229600"/>
          </a:xfrm>
          <a:prstGeom prst="rect">
            <a:avLst/>
          </a:prstGeom>
          <a:solidFill>
            <a:srgbClr val="FFD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pptx_princip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91440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800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8080"/>
                </a:solidFill>
                <a:latin typeface="Arial"/>
              </a:rPr>
              <a:t>// IDENTIDADE VISUAL  · 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663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B9B9B"/>
                </a:solidFill>
                <a:latin typeface="Arial"/>
              </a:rPr>
              <a:t>Marketing que funciona de verdade.</a:t>
            </a:r>
          </a:p>
        </p:txBody>
      </p:sp>
      <p:sp>
        <p:nvSpPr>
          <p:cNvPr id="6" name="Oval 5"/>
          <p:cNvSpPr/>
          <p:nvPr/>
        </p:nvSpPr>
        <p:spPr>
          <a:xfrm>
            <a:off x="12344400" y="274320"/>
            <a:ext cx="2011680" cy="2011680"/>
          </a:xfrm>
          <a:prstGeom prst="ellipse">
            <a:avLst/>
          </a:prstGeom>
          <a:noFill/>
          <a:ln w="19050">
            <a:solidFill>
              <a:srgbClr val="FFDE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527280" y="457200"/>
            <a:ext cx="1645920" cy="1645920"/>
          </a:xfrm>
          <a:prstGeom prst="ellipse">
            <a:avLst/>
          </a:prstGeom>
          <a:noFill/>
          <a:ln w="9525">
            <a:solidFill>
              <a:srgbClr val="35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277088" y="1207008"/>
            <a:ext cx="54864" cy="54864"/>
          </a:xfrm>
          <a:prstGeom prst="ellipse">
            <a:avLst/>
          </a:prstGeom>
          <a:solidFill>
            <a:srgbClr val="FFD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7635240"/>
            <a:ext cx="14630400" cy="594360"/>
          </a:xfrm>
          <a:prstGeom prst="rect">
            <a:avLst/>
          </a:prstGeom>
          <a:solidFill>
            <a:srgbClr val="FFD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77906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0A0A"/>
                </a:solidFill>
                <a:latin typeface="Arial"/>
              </a:rPr>
              <a:t>propagandaoca.com.br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77906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0A0A"/>
                </a:solidFill>
                <a:latin typeface="Arial"/>
              </a:rPr>
              <a:t>oi@propagandaoca.com.br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77906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0A0A"/>
                </a:solidFill>
                <a:latin typeface="Arial"/>
              </a:rPr>
              <a:t>(11) 9 5912-5935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77906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0A0A"/>
                </a:solidFill>
                <a:latin typeface="Arial"/>
              </a:rPr>
              <a:t>Bom Jesus dos Perdoes  .  SP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DE21"/>
                </a:solidFill>
                <a:latin typeface="Arial"/>
              </a:rPr>
              <a:t>IDENTIDADE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0" y="25603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Arial"/>
              </a:rPr>
              <a:t>02 / CORES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3291840" cy="4114800"/>
          </a:xfrm>
          <a:prstGeom prst="rect">
            <a:avLst/>
          </a:prstGeom>
          <a:solidFill>
            <a:srgbClr val="FFD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0A0A"/>
                </a:solidFill>
                <a:latin typeface="Arial"/>
              </a:rPr>
              <a:t>AMARELO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A0A"/>
                </a:solidFill>
                <a:latin typeface="Arial"/>
              </a:rPr>
              <a:t>#FFDE21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28523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B9B9B"/>
                </a:solidFill>
                <a:latin typeface="Arial"/>
              </a:rPr>
              <a:t>RGB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48640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A0A"/>
                </a:solidFill>
                <a:latin typeface="Arial"/>
              </a:rPr>
              <a:t>255 . 222 . 33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78815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B9B9B"/>
                </a:solidFill>
                <a:latin typeface="Arial"/>
              </a:rPr>
              <a:t>CMYK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98932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A0A"/>
                </a:solidFill>
                <a:latin typeface="Arial"/>
              </a:rPr>
              <a:t>0 . 13 . 87 . 0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33679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8080"/>
                </a:solidFill>
                <a:latin typeface="Arial"/>
              </a:rPr>
              <a:t>Cor de identidade.
Destaques e CTAs.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04488" y="1005840"/>
            <a:ext cx="3291840" cy="41148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41648" y="117043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E21"/>
                </a:solidFill>
                <a:latin typeface="Arial"/>
              </a:rPr>
              <a:t>PRETO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41648" y="166420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E21"/>
                </a:solidFill>
                <a:latin typeface="Arial"/>
              </a:rPr>
              <a:t>#0A0A0A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04488" y="528523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B9B9B"/>
                </a:solidFill>
                <a:latin typeface="Arial"/>
              </a:rPr>
              <a:t>RGB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04488" y="548640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A0A"/>
                </a:solidFill>
                <a:latin typeface="Arial"/>
              </a:rPr>
              <a:t>10 . 10 . 10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04488" y="578815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B9B9B"/>
                </a:solidFill>
                <a:latin typeface="Arial"/>
              </a:rPr>
              <a:t>CMYK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04488" y="598932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A0A"/>
                </a:solidFill>
                <a:latin typeface="Arial"/>
              </a:rPr>
              <a:t>0 . 0 . 0 . 96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04488" y="633679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8080"/>
                </a:solidFill>
                <a:latin typeface="Arial"/>
              </a:rPr>
              <a:t>Fundos principais.
Texto sobre fundo claro.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43216" y="1005840"/>
            <a:ext cx="3291840" cy="4114800"/>
          </a:xfrm>
          <a:prstGeom prst="rect">
            <a:avLst/>
          </a:prstGeom>
          <a:solidFill>
            <a:srgbClr val="F5F5F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0376" y="117043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0A0A"/>
                </a:solidFill>
                <a:latin typeface="Arial"/>
              </a:rPr>
              <a:t>OFF-WHITE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0376" y="166420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08080"/>
                </a:solidFill>
                <a:latin typeface="Arial"/>
              </a:rPr>
              <a:t>#F5F5F0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3216" y="528523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B9B9B"/>
                </a:solidFill>
                <a:latin typeface="Arial"/>
              </a:rPr>
              <a:t>RGB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43216" y="548640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A0A"/>
                </a:solidFill>
                <a:latin typeface="Arial"/>
              </a:rPr>
              <a:t>245 . 245 . 240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43216" y="578815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B9B9B"/>
                </a:solidFill>
                <a:latin typeface="Arial"/>
              </a:rPr>
              <a:t>CMYK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3216" y="598932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A0A"/>
                </a:solidFill>
                <a:latin typeface="Arial"/>
              </a:rPr>
              <a:t>0 . 0 . 2 . 4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43216" y="633679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8080"/>
                </a:solidFill>
                <a:latin typeface="Arial"/>
              </a:rPr>
              <a:t>Fundos secundarios.
Papelaria e apresentacoes.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81944" y="1005840"/>
            <a:ext cx="3291840" cy="4114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19104" y="117043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9B9B9B"/>
                </a:solidFill>
                <a:latin typeface="Arial"/>
              </a:rPr>
              <a:t>CINZA ESCURO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19104" y="166420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B9B9B"/>
                </a:solidFill>
                <a:latin typeface="Arial"/>
              </a:rPr>
              <a:t>#1A1A1A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81944" y="528523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B9B9B"/>
                </a:solidFill>
                <a:latin typeface="Arial"/>
              </a:rPr>
              <a:t>RGB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81944" y="548640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A0A"/>
                </a:solidFill>
                <a:latin typeface="Arial"/>
              </a:rPr>
              <a:t>26 . 26 . 26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81944" y="578815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B9B9B"/>
                </a:solidFill>
                <a:latin typeface="Arial"/>
              </a:rPr>
              <a:t>CMYK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81944" y="598932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A0A"/>
                </a:solidFill>
                <a:latin typeface="Arial"/>
              </a:rPr>
              <a:t>0 . 0 . 0 . 90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81944" y="633679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8080"/>
                </a:solidFill>
                <a:latin typeface="Arial"/>
              </a:rPr>
              <a:t>Texto e elementos
de suporte.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065776"/>
            <a:ext cx="3291840" cy="54864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904488" y="5065776"/>
            <a:ext cx="3291840" cy="54864"/>
          </a:xfrm>
          <a:prstGeom prst="rect">
            <a:avLst/>
          </a:prstGeom>
          <a:solidFill>
            <a:srgbClr val="FFD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443216" y="5065776"/>
            <a:ext cx="3291840" cy="54864"/>
          </a:xfrm>
          <a:prstGeom prst="rect">
            <a:avLst/>
          </a:prstGeom>
          <a:solidFill>
            <a:srgbClr val="FFD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981944" y="5065776"/>
            <a:ext cx="3291840" cy="54864"/>
          </a:xfrm>
          <a:prstGeom prst="rect">
            <a:avLst/>
          </a:prstGeom>
          <a:solidFill>
            <a:srgbClr val="FFD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8028431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B9B9B"/>
                </a:solidFill>
                <a:latin typeface="Arial"/>
              </a:rPr>
              <a:t>PROPAGANDA OCA  —  BRANDBOOK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"/>
          </a:xfrm>
          <a:prstGeom prst="rect">
            <a:avLst/>
          </a:prstGeom>
          <a:solidFill>
            <a:srgbClr val="FFD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A0A0A"/>
                </a:solidFill>
                <a:latin typeface="Arial"/>
              </a:rPr>
              <a:t>TIPOGRAFIA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0" y="2560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0A0A"/>
                </a:solidFill>
                <a:latin typeface="Arial"/>
              </a:rPr>
              <a:t>03 / 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4480560" cy="283464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112471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DE21"/>
                </a:solidFill>
                <a:latin typeface="Arial"/>
              </a:rPr>
              <a:t>LOGOTIPO / PROPAGANDA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" y="1435608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DE21"/>
                </a:solidFill>
                <a:latin typeface="Arial"/>
              </a:rPr>
              <a:t>Cactus Classical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308152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8080"/>
                </a:solidFill>
                <a:latin typeface="Arial"/>
              </a:rPr>
              <a:t>Serifada brasileira. Para 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342900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8080"/>
                </a:solidFill>
                <a:latin typeface="Arial"/>
              </a:rPr>
              <a:t>nome PROPAGANDA no logo.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960120"/>
            <a:ext cx="4480560" cy="283464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02352" y="112471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DE21"/>
                </a:solidFill>
                <a:latin typeface="Arial"/>
              </a:rPr>
              <a:t>LOGOTIPO / OCA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02352" y="1435608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5F5F0"/>
                </a:solidFill>
                <a:latin typeface="Arial"/>
              </a:rPr>
              <a:t>Oferta do Dia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02352" y="308152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8080"/>
                </a:solidFill>
                <a:latin typeface="Arial"/>
              </a:rPr>
              <a:t>Display bold nacional.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02352" y="342900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8080"/>
                </a:solidFill>
                <a:latin typeface="Arial"/>
              </a:rPr>
              <a:t>Para OCA no logo da marca.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55480" y="960120"/>
            <a:ext cx="4480560" cy="283464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20072" y="112471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DE21"/>
                </a:solidFill>
                <a:latin typeface="Arial"/>
              </a:rPr>
              <a:t>CORPO E DADOS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0072" y="1435608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9B9B9B"/>
                </a:solidFill>
                <a:latin typeface="Arial"/>
              </a:rPr>
              <a:t>DM  Mono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0072" y="308152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8080"/>
                </a:solidFill>
                <a:latin typeface="Arial"/>
              </a:rPr>
              <a:t>Precisao, tecnica, referencia.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0072" y="342900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8080"/>
                </a:solidFill>
                <a:latin typeface="Arial"/>
              </a:rPr>
              <a:t>Para numeros e labels.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3886200"/>
            <a:ext cx="14630400" cy="960120"/>
          </a:xfrm>
          <a:prstGeom prst="rect">
            <a:avLst/>
          </a:prstGeom>
          <a:solidFill>
            <a:srgbClr val="FFD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4592" y="3913632"/>
            <a:ext cx="14264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0A0A0A"/>
                </a:solidFill>
                <a:latin typeface="Arial"/>
              </a:rPr>
              <a:t>ABCDEFGHIJKLMNOPQRSTUVWXYZ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4919472"/>
            <a:ext cx="14630400" cy="9144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1168" y="4956048"/>
            <a:ext cx="12801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0" i="0">
                <a:solidFill>
                  <a:srgbClr val="FFDE21"/>
                </a:solidFill>
                <a:latin typeface="Arial"/>
              </a:rPr>
              <a:t>0123456789   . , % ; 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5907024"/>
            <a:ext cx="14630400" cy="2322576"/>
          </a:xfrm>
          <a:prstGeom prst="rect">
            <a:avLst/>
          </a:prstGeom>
          <a:solidFill>
            <a:srgbClr val="0E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0533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B9B9B"/>
                </a:solidFill>
                <a:latin typeface="Arial"/>
              </a:rPr>
              <a:t>PAIRING GUIDE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0080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Cactus Classical Serif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6537960"/>
            <a:ext cx="201168" cy="73152"/>
          </a:xfrm>
          <a:prstGeom prst="rect">
            <a:avLst/>
          </a:prstGeom>
          <a:solidFill>
            <a:srgbClr val="FFD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83480" y="640080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Arial"/>
              </a:rPr>
              <a:t>PROPAGANDA no logo. Serifada com identidade brasileira.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894576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Oferta do Dia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63440" y="7031736"/>
            <a:ext cx="201168" cy="73152"/>
          </a:xfrm>
          <a:prstGeom prst="rect">
            <a:avLst/>
          </a:prstGeom>
          <a:solidFill>
            <a:srgbClr val="FFD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83480" y="6894576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Arial"/>
              </a:rPr>
              <a:t>OCA no logo. Display bold nacional de alto impacto.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738835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DM Mono Regular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63440" y="7525512"/>
            <a:ext cx="201168" cy="73152"/>
          </a:xfrm>
          <a:prstGeom prst="rect">
            <a:avLst/>
          </a:prstGeom>
          <a:solidFill>
            <a:srgbClr val="FFD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83480" y="738835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Arial"/>
              </a:rPr>
              <a:t>Numeros, metricas, labels tecnicos, URLs, datas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" cy="82296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4572" cy="82296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4572" cy="82296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4572" cy="82296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4572" cy="82296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4572" cy="82296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4572" cy="82296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4572" cy="82296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4572" cy="82296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4572" cy="82296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4572" cy="82296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4572" cy="82296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4572" cy="82296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4572" cy="82296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801600" y="0"/>
            <a:ext cx="4572" cy="82296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716000" y="0"/>
            <a:ext cx="4572" cy="82296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4630400" y="0"/>
            <a:ext cx="4572" cy="82296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89520" y="0"/>
            <a:ext cx="7040880" cy="4160520"/>
          </a:xfrm>
          <a:prstGeom prst="rect">
            <a:avLst/>
          </a:prstGeom>
          <a:solidFill>
            <a:srgbClr val="FFD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61120" y="365760"/>
            <a:ext cx="2834640" cy="283464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89720" y="594360"/>
            <a:ext cx="2377440" cy="2377440"/>
          </a:xfrm>
          <a:prstGeom prst="ellipse">
            <a:avLst/>
          </a:prstGeom>
          <a:noFill/>
          <a:ln w="19050">
            <a:solidFill>
              <a:srgbClr val="FFDE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332720" y="1737360"/>
            <a:ext cx="64008" cy="64008"/>
          </a:xfrm>
          <a:prstGeom prst="ellipse">
            <a:avLst/>
          </a:prstGeom>
          <a:solidFill>
            <a:srgbClr val="FFD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" y="365760"/>
            <a:ext cx="640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DE21"/>
                </a:solidFill>
                <a:latin typeface="Arial"/>
              </a:rPr>
              <a:t>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" y="1115568"/>
            <a:ext cx="640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DE21"/>
                </a:solidFill>
                <a:latin typeface="Arial"/>
              </a:rPr>
              <a:t>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" y="1865376"/>
            <a:ext cx="640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DE21"/>
                </a:solidFill>
                <a:latin typeface="Arial"/>
              </a:rPr>
              <a:t>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" y="2615184"/>
            <a:ext cx="640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DE21"/>
                </a:solidFill>
                <a:latin typeface="Arial"/>
              </a:rPr>
              <a:t>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" y="3364992"/>
            <a:ext cx="640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DE21"/>
                </a:solidFill>
                <a:latin typeface="Arial"/>
              </a:rPr>
              <a:t>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" y="4114800"/>
            <a:ext cx="640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DE21"/>
                </a:solidFill>
                <a:latin typeface="Arial"/>
              </a:rPr>
              <a:t>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" y="4864608"/>
            <a:ext cx="640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DE21"/>
                </a:solidFill>
                <a:latin typeface="Arial"/>
              </a:rPr>
              <a:t>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" y="5614416"/>
            <a:ext cx="640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DE21"/>
                </a:solidFill>
                <a:latin typeface="Arial"/>
              </a:rPr>
              <a:t>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" y="6364224"/>
            <a:ext cx="640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DE21"/>
                </a:solidFill>
                <a:latin typeface="Arial"/>
              </a:rPr>
              <a:t>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" y="7114032"/>
            <a:ext cx="640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DE21"/>
                </a:solidFill>
                <a:latin typeface="Arial"/>
              </a:rPr>
              <a:t>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" y="4023360"/>
            <a:ext cx="6583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0" b="1" i="0">
                <a:solidFill>
                  <a:srgbClr val="FFFFFF"/>
                </a:solidFill>
                <a:latin typeface="Arial"/>
              </a:rPr>
              <a:t>OCA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2" y="3977639"/>
            <a:ext cx="6675120" cy="27432"/>
          </a:xfrm>
          <a:prstGeom prst="rect">
            <a:avLst/>
          </a:prstGeom>
          <a:solidFill>
            <a:srgbClr val="FFD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0" y="429768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Marketing que funciona de verdade.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0" y="489204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B9B9B"/>
                </a:solidFill>
                <a:latin typeface="Arial"/>
              </a:rPr>
              <a:t>Feito no interior. Para o interior.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534924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B9B9B"/>
                </a:solidFill>
                <a:latin typeface="Arial"/>
              </a:rPr>
              <a:t>Sem jargao. Sem template. Sem enrolacao.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83680"/>
            <a:ext cx="7772400" cy="16459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6629400"/>
            <a:ext cx="17602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DE21"/>
                </a:solidFill>
                <a:latin typeface="Arial"/>
              </a:rPr>
              <a:t>+120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7818120"/>
            <a:ext cx="17602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B9B9B"/>
                </a:solidFill>
                <a:latin typeface="Arial"/>
              </a:rPr>
              <a:t>EMPRESAS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46020" y="6629400"/>
            <a:ext cx="17602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DE21"/>
                </a:solidFill>
                <a:latin typeface="Arial"/>
              </a:rPr>
              <a:t>3x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46020" y="7818120"/>
            <a:ext cx="17602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B9B9B"/>
                </a:solidFill>
                <a:latin typeface="Arial"/>
              </a:rPr>
              <a:t>MAIS LEADS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0" y="6629400"/>
            <a:ext cx="17602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DE21"/>
                </a:solidFill>
                <a:latin typeface="Arial"/>
              </a:rPr>
              <a:t>87%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9120" y="7818120"/>
            <a:ext cx="17602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B9B9B"/>
                </a:solidFill>
                <a:latin typeface="Arial"/>
              </a:rPr>
              <a:t>RETENCAO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32220" y="6629400"/>
            <a:ext cx="17602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DE21"/>
                </a:solidFill>
                <a:latin typeface="Arial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32220" y="7818120"/>
            <a:ext cx="17602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B9B9B"/>
                </a:solidFill>
                <a:latin typeface="Arial"/>
              </a:rPr>
              <a:t>ANOS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8202168"/>
            <a:ext cx="14630400" cy="27432"/>
          </a:xfrm>
          <a:prstGeom prst="rect">
            <a:avLst/>
          </a:prstGeom>
          <a:solidFill>
            <a:srgbClr val="FFD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0" y="7955279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8080"/>
                </a:solidFill>
                <a:latin typeface="Arial"/>
              </a:rPr>
              <a:t>PROPAGANDA OCA  —  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DE21"/>
                </a:solidFill>
                <a:latin typeface="Arial"/>
              </a:rPr>
              <a:t>SISTEMA DE APLICACAO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0" y="2560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Arial"/>
              </a:rPr>
              <a:t>05 / GRID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5120640" cy="292608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82880" cy="2926080"/>
          </a:xfrm>
          <a:prstGeom prst="rect">
            <a:avLst/>
          </a:prstGeom>
          <a:solidFill>
            <a:srgbClr val="FFD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pptx_princip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4709160" cy="11887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40080" y="2862072"/>
            <a:ext cx="4572000" cy="13716"/>
          </a:xfrm>
          <a:prstGeom prst="rect">
            <a:avLst/>
          </a:prstGeom>
          <a:solidFill>
            <a:srgbClr val="35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Jessica Gregorio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B9B9B"/>
                </a:solidFill>
                <a:latin typeface="Arial"/>
              </a:rPr>
              <a:t>Diretora  .  Propaganda Oca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29000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B9B9B"/>
                </a:solidFill>
                <a:latin typeface="Arial"/>
              </a:rPr>
              <a:t>(11) 9 5912-5935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48456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B9B9B"/>
                </a:solidFill>
                <a:latin typeface="Arial"/>
              </a:rPr>
              <a:t>oi@propagandaoca.com.br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959352"/>
            <a:ext cx="5120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8080"/>
                </a:solidFill>
                <a:latin typeface="Arial"/>
              </a:rPr>
              <a:t>CARTAO DE VISITA — FRENTE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0" y="960120"/>
            <a:ext cx="5120640" cy="2926080"/>
          </a:xfrm>
          <a:prstGeom prst="rect">
            <a:avLst/>
          </a:prstGeom>
          <a:solidFill>
            <a:srgbClr val="FFD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ogo_pptx_amarel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600200"/>
            <a:ext cx="4663440" cy="11887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0" y="3959352"/>
            <a:ext cx="5120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8080"/>
                </a:solidFill>
                <a:latin typeface="Arial"/>
              </a:rPr>
              <a:t>CARTAO DE VISITA — VERSO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297680"/>
            <a:ext cx="3154680" cy="315468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526280"/>
            <a:ext cx="2880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0" b="1" i="0">
                <a:solidFill>
                  <a:srgbClr val="FFDE21"/>
                </a:solidFill>
                <a:latin typeface="Arial"/>
              </a:rPr>
              <a:t>3x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440680"/>
            <a:ext cx="2880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Arial"/>
              </a:rPr>
              <a:t>MAIS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217920"/>
            <a:ext cx="2880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Arial"/>
              </a:rPr>
              <a:t>LEADS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7040880"/>
            <a:ext cx="3154680" cy="411480"/>
          </a:xfrm>
          <a:prstGeom prst="rect">
            <a:avLst/>
          </a:prstGeom>
          <a:solidFill>
            <a:srgbClr val="FFD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" y="7123176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A0A"/>
                </a:solidFill>
                <a:latin typeface="Arial"/>
              </a:rPr>
              <a:t>@propaganda.oca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7525512"/>
            <a:ext cx="3154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8080"/>
                </a:solidFill>
                <a:latin typeface="Arial"/>
              </a:rPr>
              <a:t>POST INSTAGRAM 1:1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94760" y="4297680"/>
            <a:ext cx="219456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794760" y="4297680"/>
            <a:ext cx="2194560" cy="384048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794760" y="4297680"/>
            <a:ext cx="82296" cy="384048"/>
          </a:xfrm>
          <a:prstGeom prst="rect">
            <a:avLst/>
          </a:prstGeom>
          <a:solidFill>
            <a:srgbClr val="FFD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logo_pptx_princip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2776" y="4315968"/>
            <a:ext cx="1965960" cy="347472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3794760" y="7178040"/>
            <a:ext cx="2194560" cy="228600"/>
          </a:xfrm>
          <a:prstGeom prst="rect">
            <a:avLst/>
          </a:prstGeom>
          <a:solidFill>
            <a:srgbClr val="FFD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0" y="7223760"/>
            <a:ext cx="2103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0A0A0A"/>
                </a:solidFill>
                <a:latin typeface="Arial"/>
              </a:rPr>
              <a:t>propagandaoca.com.br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67912" y="4773168"/>
            <a:ext cx="2048256" cy="9144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867912" y="5074920"/>
            <a:ext cx="2048256" cy="9144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67912" y="5376672"/>
            <a:ext cx="2048256" cy="9144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67912" y="5678424"/>
            <a:ext cx="2048256" cy="9144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67912" y="5980176"/>
            <a:ext cx="2048256" cy="9144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67912" y="6281928"/>
            <a:ext cx="2048256" cy="9144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67912" y="6583680"/>
            <a:ext cx="2048256" cy="9144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867912" y="6885432"/>
            <a:ext cx="2048256" cy="9144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94760" y="7479792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8080"/>
                </a:solidFill>
                <a:latin typeface="Arial"/>
              </a:rPr>
              <a:t>PAPEL TIMBRADO A4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3640" y="4297680"/>
            <a:ext cx="1783080" cy="3154680"/>
          </a:xfrm>
          <a:prstGeom prst="rect">
            <a:avLst/>
          </a:prstGeom>
          <a:solidFill>
            <a:srgbClr val="FFD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91656" y="4663440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A0A0A"/>
                </a:solidFill>
                <a:latin typeface="Arial"/>
              </a:rPr>
              <a:t>MARKET-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91656" y="5248656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A0A0A"/>
                </a:solidFill>
                <a:latin typeface="Arial"/>
              </a:rPr>
              <a:t>ING QUE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91656" y="5833872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A0A0A"/>
                </a:solidFill>
                <a:latin typeface="Arial"/>
              </a:rPr>
              <a:t>FUNCIO-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91656" y="6419088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A0A0A"/>
                </a:solidFill>
                <a:latin typeface="Arial"/>
              </a:rPr>
              <a:t>NA.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3640" y="7068312"/>
            <a:ext cx="1783080" cy="384048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36792" y="7141464"/>
            <a:ext cx="1691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E21"/>
                </a:solidFill>
                <a:latin typeface="Arial"/>
              </a:rPr>
              <a:t>@propaganda.oca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7525512"/>
            <a:ext cx="1783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8080"/>
                </a:solidFill>
                <a:latin typeface="Arial"/>
              </a:rPr>
              <a:t>STORY 9:16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21040" y="4297680"/>
            <a:ext cx="6035040" cy="96012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321040" y="4297680"/>
            <a:ext cx="64008" cy="960120"/>
          </a:xfrm>
          <a:prstGeom prst="rect">
            <a:avLst/>
          </a:prstGeom>
          <a:solidFill>
            <a:srgbClr val="FFD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logo_pptx_princip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5632" y="4370832"/>
            <a:ext cx="5760720" cy="64008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503920" y="4919472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B9B9B"/>
                </a:solidFill>
                <a:latin typeface="Arial"/>
              </a:rPr>
              <a:t>oi@propagandaoca.com.br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5330952"/>
            <a:ext cx="6035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8080"/>
                </a:solidFill>
                <a:latin typeface="Arial"/>
              </a:rPr>
              <a:t>ASSINATURA DE E-MAIL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21040" y="5623560"/>
            <a:ext cx="2926080" cy="1737360"/>
          </a:xfrm>
          <a:prstGeom prst="rect">
            <a:avLst/>
          </a:prstGeom>
          <a:solidFill>
            <a:srgbClr val="FFD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03920" y="589788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0A0A0A"/>
                </a:solidFill>
                <a:latin typeface="Arial"/>
              </a:rPr>
              <a:t>PO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430000" y="5623560"/>
            <a:ext cx="2926080" cy="173736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612880" y="589788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DE21"/>
                </a:solidFill>
                <a:latin typeface="Arial"/>
              </a:rPr>
              <a:t>PO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1040" y="7434072"/>
            <a:ext cx="6035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8080"/>
                </a:solidFill>
                <a:latin typeface="Arial"/>
              </a:rPr>
              <a:t>FAVICON  /  AVATAR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" y="8028431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B9B9B"/>
                </a:solidFill>
                <a:latin typeface="Arial"/>
              </a:rPr>
              <a:t>PROPAGANDA OCA  —  BRANDBOOK 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"/>
          </a:xfrm>
          <a:prstGeom prst="rect">
            <a:avLst/>
          </a:prstGeom>
          <a:solidFill>
            <a:srgbClr val="FFD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A0A0A"/>
                </a:solidFill>
                <a:latin typeface="Arial"/>
              </a:rPr>
              <a:t>TOM DE VOZ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0" y="2560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0A0A"/>
                </a:solidFill>
                <a:latin typeface="Arial"/>
              </a:rPr>
              <a:t>04 / VOZ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" y="987552"/>
            <a:ext cx="50292" cy="347472"/>
          </a:xfrm>
          <a:prstGeom prst="rect">
            <a:avLst/>
          </a:prstGeom>
          <a:solidFill>
            <a:srgbClr val="FFD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A0A0A"/>
                </a:solidFill>
                <a:latin typeface="Arial"/>
              </a:rPr>
              <a:t>DIRETO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Arial"/>
              </a:rPr>
              <a:t>Vai direto ao ponto. Sem rodeios.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6420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Arial"/>
              </a:rPr>
              <a:t>O empresario nao tem tempo a perder.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" y="2793492"/>
            <a:ext cx="50292" cy="347472"/>
          </a:xfrm>
          <a:prstGeom prst="rect">
            <a:avLst/>
          </a:prstGeom>
          <a:solidFill>
            <a:srgbClr val="FFD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7203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A0A0A"/>
                </a:solidFill>
                <a:latin typeface="Arial"/>
              </a:rPr>
              <a:t>REGIONAL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775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Arial"/>
              </a:rPr>
              <a:t>Fala como quem conhece a cidade.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7014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Arial"/>
              </a:rPr>
              <a:t>Menciona lugares e contextos locais.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" y="4599432"/>
            <a:ext cx="50292" cy="347472"/>
          </a:xfrm>
          <a:prstGeom prst="rect">
            <a:avLst/>
          </a:prstGeom>
          <a:solidFill>
            <a:srgbClr val="FFD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5262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A0A0A"/>
                </a:solidFill>
                <a:latin typeface="Arial"/>
              </a:rPr>
              <a:t>CONCRETO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8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Arial"/>
              </a:rPr>
              <a:t>Sempre com numeros e resultados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27608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Arial"/>
              </a:rPr>
              <a:t>reais. Nunca promessas vagas.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" y="6405372"/>
            <a:ext cx="50292" cy="347472"/>
          </a:xfrm>
          <a:prstGeom prst="rect">
            <a:avLst/>
          </a:prstGeom>
          <a:solidFill>
            <a:srgbClr val="FFD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3322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A0A0A"/>
                </a:solidFill>
                <a:latin typeface="Arial"/>
              </a:rPr>
              <a:t>PARCEIRO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78942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Arial"/>
              </a:rPr>
              <a:t>Tom de quem esta do lado.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708202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Arial"/>
              </a:rPr>
              <a:t>Sem pedantismo, sem jargao.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80" y="868680"/>
            <a:ext cx="16459" cy="722376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0" y="914400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A0A0A"/>
                </a:solidFill>
                <a:latin typeface="Arial"/>
              </a:rPr>
              <a:t>COMO FALAMOS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1435608"/>
            <a:ext cx="1463040" cy="22860"/>
          </a:xfrm>
          <a:prstGeom prst="rect">
            <a:avLst/>
          </a:prstGeom>
          <a:solidFill>
            <a:srgbClr val="FFD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23760" y="1508760"/>
            <a:ext cx="3383280" cy="292608"/>
          </a:xfrm>
          <a:prstGeom prst="rect">
            <a:avLst/>
          </a:prstGeom>
          <a:solidFill>
            <a:srgbClr val="EA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33488" y="1545336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500A"/>
                </a:solidFill>
                <a:latin typeface="Arial"/>
              </a:rPr>
              <a:t>SIM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771632" y="1508760"/>
            <a:ext cx="3383280" cy="292608"/>
          </a:xfrm>
          <a:prstGeom prst="rect">
            <a:avLst/>
          </a:prstGeom>
          <a:solidFill>
            <a:srgbClr val="FC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81360" y="1545336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32D2D"/>
                </a:solidFill>
                <a:latin typeface="Arial"/>
              </a:rPr>
              <a:t>NAO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23760" y="1819656"/>
            <a:ext cx="3383280" cy="1051560"/>
          </a:xfrm>
          <a:prstGeom prst="rect">
            <a:avLst/>
          </a:prstGeom>
          <a:solidFill>
            <a:srgbClr val="F5F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33488" y="191109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7500A"/>
                </a:solidFill>
                <a:latin typeface="Arial"/>
              </a:rPr>
              <a:t>A gente entende o seu mercado.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771632" y="1819656"/>
            <a:ext cx="3383280" cy="105156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81360" y="191109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32D2D"/>
                </a:solidFill>
                <a:latin typeface="Arial"/>
              </a:rPr>
              <a:t>Potencialize seus KPIs com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22037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32D2D"/>
                </a:solidFill>
                <a:latin typeface="Arial"/>
              </a:rPr>
              <a:t>solucoes omnichannel.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23760" y="2916936"/>
            <a:ext cx="3383280" cy="1051560"/>
          </a:xfrm>
          <a:prstGeom prst="rect">
            <a:avLst/>
          </a:prstGeom>
          <a:solidFill>
            <a:srgbClr val="F5F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33488" y="30083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7500A"/>
                </a:solidFill>
                <a:latin typeface="Arial"/>
              </a:rPr>
              <a:t>Sem enrolacao, sem template.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771632" y="2916936"/>
            <a:ext cx="3383280" cy="105156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881360" y="30083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32D2D"/>
                </a:solidFill>
                <a:latin typeface="Arial"/>
              </a:rPr>
              <a:t>Desenvolvemos estrategias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33009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32D2D"/>
                </a:solidFill>
                <a:latin typeface="Arial"/>
              </a:rPr>
              <a:t>customizadas e escalaveis.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23760" y="4014216"/>
            <a:ext cx="3383280" cy="1051560"/>
          </a:xfrm>
          <a:prstGeom prst="rect">
            <a:avLst/>
          </a:prstGeom>
          <a:solidFill>
            <a:srgbClr val="F5F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33488" y="410565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7500A"/>
                </a:solidFill>
                <a:latin typeface="Arial"/>
              </a:rPr>
              <a:t>Resultado em 4 meses.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33488" y="439826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7500A"/>
                </a:solidFill>
                <a:latin typeface="Arial"/>
              </a:rPr>
              <a:t>Numero real, cliente real.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771632" y="4014216"/>
            <a:ext cx="3383280" cy="105156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881360" y="410565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32D2D"/>
                </a:solidFill>
                <a:latin typeface="Arial"/>
              </a:rPr>
              <a:t>ROI otimizado a longo prazo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81360" y="439826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32D2D"/>
                </a:solidFill>
                <a:latin typeface="Arial"/>
              </a:rPr>
              <a:t>com metodologias ageis.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23760" y="5111496"/>
            <a:ext cx="3383280" cy="1051560"/>
          </a:xfrm>
          <a:prstGeom prst="rect">
            <a:avLst/>
          </a:prstGeom>
          <a:solidFill>
            <a:srgbClr val="F5F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33488" y="520293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7500A"/>
                </a:solidFill>
                <a:latin typeface="Arial"/>
              </a:rPr>
              <a:t>Feito para Bom Jesus dos Perdoes.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771632" y="5111496"/>
            <a:ext cx="3383280" cy="105156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881360" y="520293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32D2D"/>
                </a:solidFill>
                <a:latin typeface="Arial"/>
              </a:rPr>
              <a:t>Atendemos empresas de todos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81360" y="549554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32D2D"/>
                </a:solidFill>
                <a:latin typeface="Arial"/>
              </a:rPr>
              <a:t>os portes e segmentos.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223760" y="6318504"/>
            <a:ext cx="7040880" cy="1709928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88352" y="6446520"/>
            <a:ext cx="6766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E21"/>
                </a:solidFill>
                <a:latin typeface="Arial"/>
              </a:rPr>
              <a:t>// REGRA DE OURO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88352" y="6739128"/>
            <a:ext cx="6711696" cy="1371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88352" y="6821424"/>
            <a:ext cx="6766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9B9B"/>
                </a:solidFill>
                <a:latin typeface="Arial"/>
              </a:rPr>
              <a:t>Se nao daria para dizer para um cliente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88352" y="7132320"/>
            <a:ext cx="6766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9B9B"/>
                </a:solidFill>
                <a:latin typeface="Arial"/>
              </a:rPr>
              <a:t>olhando nos olhos em Bom Jesus dos Perdoes,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88352" y="7443216"/>
            <a:ext cx="6766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nao coloca no conteudo.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8028431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B9B9B"/>
                </a:solidFill>
                <a:latin typeface="Arial"/>
              </a:rPr>
              <a:t>PROPAGANDA OCA  —  BRANDBOOK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